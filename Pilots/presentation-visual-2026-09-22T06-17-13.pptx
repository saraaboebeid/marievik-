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31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2529" y="-21557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1"/>
          <p:cNvSpPr/>
          <p:nvPr/>
        </p:nvSpPr>
        <p:spPr>
          <a:xfrm>
            <a:off x="409473" y="4544223"/>
            <a:ext cx="9294076" cy="1371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4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Lindängen</a:t>
            </a:r>
            <a:r>
              <a:rPr lang="en-US" sz="5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och </a:t>
            </a:r>
            <a:r>
              <a:rPr lang="en-US" sz="504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Sandvången</a:t>
            </a:r>
            <a:r>
              <a:rPr lang="en-US" sz="5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Från moderniserat bestånd till smart energihubb?</a:t>
            </a:r>
            <a:endParaRPr lang="en-US" sz="5040" dirty="0"/>
          </a:p>
        </p:txBody>
      </p:sp>
      <p:sp>
        <p:nvSpPr>
          <p:cNvPr id="5" name="Text 2"/>
          <p:cNvSpPr/>
          <p:nvPr/>
        </p:nvSpPr>
        <p:spPr>
          <a:xfrm>
            <a:off x="409473" y="6311416"/>
            <a:ext cx="9294076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</a:t>
            </a:r>
            <a:r>
              <a:rPr lang="en-US" sz="168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på</a:t>
            </a: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8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olika</a:t>
            </a: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8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sätt</a:t>
            </a: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409473" y="409473"/>
            <a:ext cx="1811827" cy="586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920" dirty="0"/>
          </a:p>
        </p:txBody>
      </p:sp>
      <p:sp>
        <p:nvSpPr>
          <p:cNvPr id="4" name="Text 2"/>
          <p:cNvSpPr/>
          <p:nvPr/>
        </p:nvSpPr>
        <p:spPr>
          <a:xfrm>
            <a:off x="409473" y="5161259"/>
            <a:ext cx="1035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30" dirty="0"/>
          </a:p>
        </p:txBody>
      </p:sp>
      <p:sp>
        <p:nvSpPr>
          <p:cNvPr id="5" name="Text 3"/>
          <p:cNvSpPr/>
          <p:nvPr/>
        </p:nvSpPr>
        <p:spPr>
          <a:xfrm>
            <a:off x="513031" y="5161259"/>
            <a:ext cx="54259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Område 1: Lindängen – lokal energihubb med solel och batterier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409473" y="5508835"/>
            <a:ext cx="1035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513031" y="5508835"/>
            <a:ext cx="54259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Område 2: Sandvången – storskalig värmeåtervinning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409473" y="5856411"/>
            <a:ext cx="1035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513031" y="5856411"/>
            <a:ext cx="54259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för uppföljning och styrning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409473" y="6203986"/>
            <a:ext cx="1035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513031" y="6203986"/>
            <a:ext cx="5425958" cy="271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Strategiska beslut: EPBD och framtidens energisystem</a:t>
            </a:r>
            <a:endParaRPr lang="en-US" sz="13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Områdeskarta: 680 lägenheter fördelade över Hymnen och Kantaten</a:t>
            </a:r>
            <a:endParaRPr lang="en-US" sz="4480" dirty="0"/>
          </a:p>
        </p:txBody>
      </p:sp>
      <p:sp>
        <p:nvSpPr>
          <p:cNvPr id="4" name="Text 2"/>
          <p:cNvSpPr/>
          <p:nvPr/>
        </p:nvSpPr>
        <p:spPr>
          <a:xfrm>
            <a:off x="409474" y="1818820"/>
            <a:ext cx="5145938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Blandat bestånd med 8-våningshus (gröna) och 3-våningshus (gula) längs Koralgatan och Kantatgatan</a:t>
            </a:r>
            <a:endParaRPr lang="en-US" sz="1680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3CB98CD6-D6A1-8BF0-2C9A-85EAF78FE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016" y="1216324"/>
            <a:ext cx="5394964" cy="5046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Lindängen ligger på energiklass C eller starkt D med solid teknisk grund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680 lägenheter, 44 532 kvm – blandat bestånd av höghus och låghus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Beståndsstruktur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Hymnen 1 och Kantaten 1-3, 6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Både 8-våningshus och 3-våningshus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5063950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5063950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Energiklass C / starkt D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Teknisk 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Stambytt (KV, VV, VVC)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Fönster bytta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Fjärrvärmecentraler i alla hus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 kall- och varmvatten alla lgh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Energilösningar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Frånluftsvärmepumpar i höghus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Solceller på alla låghus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Batterier och sammankoppling</a:t>
            </a:r>
            <a:endParaRPr lang="en-US" sz="13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6075431" y="380905"/>
            <a:ext cx="5637390" cy="1968057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6075431" y="2444188"/>
            <a:ext cx="5637390" cy="1968057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6075431" y="4507472"/>
            <a:ext cx="5637390" cy="1968057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5637390" cy="304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 hus sammankopplade för lokal solelöverföring och batterilösning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6227793" y="533267"/>
            <a:ext cx="72164" cy="38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6414228" y="533267"/>
            <a:ext cx="5146231" cy="18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Solelproduktion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6414228" y="757048"/>
            <a:ext cx="5146231" cy="160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Solceller installerade på samtliga låghus ger lokal förnybar elproduktion direkt på plats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6227793" y="2596550"/>
            <a:ext cx="72164" cy="38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6414228" y="2596550"/>
            <a:ext cx="5146231" cy="18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 överföring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6414228" y="2820332"/>
            <a:ext cx="5146231" cy="160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 hus sammankopplade för att flytta solel från överskottshus till hus utan solceller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6227793" y="4659834"/>
            <a:ext cx="72164" cy="54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6414228" y="4659834"/>
            <a:ext cx="5146231" cy="18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Batterilösning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6414228" y="4883616"/>
            <a:ext cx="5146231" cy="321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Batterier installerade i sammankopplade hus. Åtta ytterligare batterier planeras i området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409473" y="5808797"/>
            <a:ext cx="5570732" cy="548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 energihubb som möjliggör smart fördelning av förnybar el</a:t>
            </a: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6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parallella strategispår för Lindängen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Värmeoptimering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Fjärrvärmecentraler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Värmekurvor och returtemp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Injustering system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723719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1417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VVC-förluster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723719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1417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Frånluftsvärmepumpar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Elflexibilitet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Solceller låghus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Sammankopplade hus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Befintliga batterier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nya batterier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4545414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735866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Egenanvändning och toppar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Komfortsäkring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Mätning lägenheter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Identifiera orsaker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Riktade åtgärder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Uppföljning effekt</a:t>
            </a:r>
            <a:endParaRPr lang="en-US" sz="1330" dirty="0"/>
          </a:p>
        </p:txBody>
      </p:sp>
      <p:sp>
        <p:nvSpPr>
          <p:cNvPr id="38" name="Text 36"/>
          <p:cNvSpPr/>
          <p:nvPr/>
        </p:nvSpPr>
        <p:spPr>
          <a:xfrm>
            <a:off x="8367108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855756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Balans energi/komfort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och strategiska frågeställningar för Lindängen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Mål att följa, investeringsbeslut och optimering av befintliga system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att sträva efter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Egenanvändning solel &gt;70%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Energiklass C för hela området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Minskning effekttoppar 15-20%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23719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171" y="5178222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Medeltemperatur 21°C, ingen kallare än 20°C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723719" y="579897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171" y="579897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Returtemperatur &lt;45°C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Nästa steg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Installera 8 batterier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 verklig batterieffekt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Kartlägg kalla lägenheter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Optimera fjärrvärmecentraler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4545414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35866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Uppföljning solelöverföring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Strategiska frågeställningar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flexibiliteten nyttjas bättre?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Finns marknad för flexibilitet?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Är bergvärmepump relevant?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mer värme återvinnas?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8367108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55756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Skalning till fler områden?</a:t>
            </a:r>
            <a:endParaRPr lang="en-US" sz="13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Lindängen visar vägen mot framtidens energisystem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Från traditionell fastighetsdrift till datadrivet, flexibelt och komfortsäkrat område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Stark grund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Genomförda grundåtgärder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Energiklass C/starkt D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teknisk bas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 energihubb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Solel och batterier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fördelning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Framåt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Riktade åtgärder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Komfortsäkring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Skalbar lärdom</a:t>
            </a:r>
            <a:endParaRPr lang="en-US" sz="13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Områdeskarta: 832 lägenheter i Sandvången, Landskrona</a:t>
            </a:r>
            <a:endParaRPr lang="en-US" sz="4480" dirty="0"/>
          </a:p>
        </p:txBody>
      </p:sp>
      <p:sp>
        <p:nvSpPr>
          <p:cNvPr id="4" name="Text 2"/>
          <p:cNvSpPr/>
          <p:nvPr/>
        </p:nvSpPr>
        <p:spPr>
          <a:xfrm>
            <a:off x="409474" y="1818820"/>
            <a:ext cx="3567304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Blandat bestånd: 2-vån, 3-vån, 6-vån, 7-vån och radhus. UC = Fjärrvärmecentral</a:t>
            </a:r>
            <a:endParaRPr lang="en-US" sz="1680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BB495062-478B-374E-D393-57AB6D9A3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062" y="1410701"/>
            <a:ext cx="5879606" cy="5037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Sandvången: storskalig utbyggnad av värmeåtervinning pågår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Systematisk utbyggnad av värmeåtervinning från frånluft genom 2026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Beståndsstruktur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832 lägenheter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75 812 kvm Atemp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Blandat bestånd i Landskrona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23719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17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2-vån, 3-vån, 6-vån, 7-vån, radhus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723719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17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Energiklass E / D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Teknisk status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 via flera UC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Omfattande kulvertnät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Vissa fönster bytta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 kall- och varmvatten 250 lgh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4545414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35866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frånluftvärmepump i drift idag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4545414" y="5913249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735866" y="5913249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 frånluftvärmepumpar inom 1 vecka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4545414" y="653400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735866" y="653400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 frånluftvärmepumpar dec 2026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Energilösningar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Totalt 9 frånluftvärmepumpar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Storskalig värmeåtervinning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Minskad fjärrvärmeanvändning</a:t>
            </a:r>
            <a:endParaRPr lang="en-US" sz="1330" dirty="0"/>
          </a:p>
        </p:txBody>
      </p:sp>
      <p:sp>
        <p:nvSpPr>
          <p:cNvPr id="41" name="Text 39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Kulvertsystem för distribution</a:t>
            </a:r>
            <a:endParaRPr lang="en-US" sz="13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6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strategispår för Sandvången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Värmeoptimering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Fjärrvärmecentraler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Värmekurvor och returtemp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Injustering system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723719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1417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VVC-förluster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723719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14171" y="5545735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Samverkan fjärrvärme/värmepump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Värmeåtervinning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frånluftvärmepumpar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 återvunnen energi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Verifiera besparing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Optimera drift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4545414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735866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COP-uppföljning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Komfortsäkring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Mätning energieffekt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Identifiera potential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Riktade åtgärder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Uppföljning effekt</a:t>
            </a:r>
            <a:endParaRPr lang="en-US" sz="1330" dirty="0"/>
          </a:p>
        </p:txBody>
      </p:sp>
      <p:sp>
        <p:nvSpPr>
          <p:cNvPr id="38" name="Text 36"/>
          <p:cNvSpPr/>
          <p:nvPr/>
        </p:nvSpPr>
        <p:spPr>
          <a:xfrm>
            <a:off x="8367108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855756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Balans energi/komfort</a:t>
            </a:r>
            <a:endParaRPr lang="en-US" sz="13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och strategiska frågeställningar för Sandvången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Mål att följa, verifiering av investering och fortsatt optimering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att sträva efter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Återvunnen energi &gt;25% av värmebehovet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69643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69643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frånluftvärmepumpar &gt;3,0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5063950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5063950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Minskning fjärrvärme 20-30%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23719" y="543146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171" y="5431464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Medeltemperatur 21°C, ingen kallare än 20°C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723719" y="6052219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171" y="6052219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Returtemperatur &lt;45°C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Nästa steg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075681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Färdigställ utbyggnad 9 värmepumpar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469643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469643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 verklig energibesparing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4545414" y="5063950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35866" y="5063950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Verifiera COP och drifttider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545414" y="543146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735866" y="543146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Optimera styrning fjärrvärme/VP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4545414" y="579897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35866" y="579897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Uppföljning inomhusklimat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Strategiska frågeställningar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fler värmepumpar motiveras?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balans fjärrvärme/VP?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Finns potential för solceller?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Lärdomar till andra områden?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8367108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55756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drift optimeras vidare?</a:t>
            </a:r>
            <a:endParaRPr lang="en-US" sz="13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Sandvången: storskalig värmeåtervinning som referensområde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Från fjärrvärme till smart kombination av fjärrvärme och värmeåtervinning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Omfattande satsning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frånluftvärmepumpar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Storskalig utbyggnad 2026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Systematisk uppbyggnad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Beprövad lösning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Värmeåtervinning i storskala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Minskad fjärrvärmeanvändning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Verifierad teknik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Nästa steg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Mätning och uppföljning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Optimerad drift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Skalbar till fler områden</a:t>
            </a:r>
            <a:endParaRPr lang="en-US" sz="13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Nyckeltal för uppföljning och jämförelse mellan områden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centrala nyckeltal för energiuppföljning och styrning av verksamheten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Specifik energi (kWh/kvm)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Energianvändning per kvm Atemp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Möjliggör jämförelse mellan områden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5063950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5063950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Normaliserat för storlek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23719" y="543146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171" y="543146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Följs över tid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Primärenergi (kWh/kvm)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735866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Totalt energibehov omräknat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545414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Inkl primärenergiviktning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Viktig för energiklass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4545414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35866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Styrande för EPBD-krav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Mediakostnad (kr/kvm)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mediakostnad per kvm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Inkl fjärrvärme, el, vatten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Viktigt för budget och prognos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Påverkas av priser och volym</a:t>
            </a:r>
            <a:endParaRPr lang="en-US" sz="13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409473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231167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8052862" y="3361484"/>
            <a:ext cx="3726469" cy="3085328"/>
          </a:xfrm>
          <a:prstGeom prst="roundRect">
            <a:avLst>
              <a:gd name="adj" fmla="val 617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09473" y="409473"/>
            <a:ext cx="11379529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Strategiska beslut: EPBD, fjärrvärme och framtidens energisystem</a:t>
            </a:r>
            <a:endParaRPr lang="en-US" sz="4480" dirty="0"/>
          </a:p>
        </p:txBody>
      </p:sp>
      <p:sp>
        <p:nvSpPr>
          <p:cNvPr id="7" name="Text 5"/>
          <p:cNvSpPr/>
          <p:nvPr/>
        </p:nvSpPr>
        <p:spPr>
          <a:xfrm>
            <a:off x="409473" y="1818820"/>
            <a:ext cx="11379529" cy="27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Strategiska avvägningar mellan lagkrav, teknikval, ekonomi och långsiktig hållbarhet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1899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EPBD och framtiden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19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17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EPBD skärper energikrav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23719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17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Energiklass D senast 2033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723719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17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Primärenergi avgörande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723719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17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 får hög faktor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723719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17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 påverka energiklass negativt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4240690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Fjärrvärme - byta eller behålla?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5414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35866" y="4075681"/>
            <a:ext cx="2907523" cy="506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Frånluftvärmepumpar minskar behov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545414" y="469643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5866" y="469643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Solceller sänker primärenergi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4545414" y="5063950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735866" y="5063950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Bergvärmepump alternativ?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545414" y="543146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735866" y="543146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Kombination av lösningar?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4545414" y="5798977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35866" y="5798977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Kostnad vs energiklass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062385" y="3371007"/>
            <a:ext cx="3707423" cy="552312"/>
          </a:xfrm>
          <a:prstGeom prst="rect">
            <a:avLst/>
          </a:prstGeom>
          <a:noFill/>
          <a:ln/>
        </p:spPr>
        <p:txBody>
          <a:bodyPr wrap="square" lIns="4232" tIns="4232" rIns="4232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DF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Hur tar vi rätt beslut?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67108" y="4075681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557561" y="4075681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Datadrivet beslutsunderlag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8367108" y="4443194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557561" y="4443194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Verifiera nyttor först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8367108" y="4810708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557561" y="4810708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Lång payback acceptabel?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8367108" y="5178222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557561" y="5178222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Flexibilitet och framtidssäkring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8367108" y="5545735"/>
            <a:ext cx="57285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557561" y="5545735"/>
            <a:ext cx="2907523" cy="25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Skalbarhet till hela beståndet</a:t>
            </a:r>
            <a:endParaRPr lang="en-US" sz="13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985</Words>
  <Application>Microsoft Office PowerPoint</Application>
  <PresentationFormat>Anpassad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19" baseType="lpstr">
      <vt:lpstr>Arial</vt:lpstr>
      <vt:lpstr>Helvetica Neue</vt:lpstr>
      <vt:lpstr>Inter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Generated with Sana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Sana AI</dc:creator>
  <cp:lastModifiedBy>Olausson, Jesper</cp:lastModifiedBy>
  <cp:revision>2</cp:revision>
  <dcterms:created xsi:type="dcterms:W3CDTF">2026-09-22T06:17:13Z</dcterms:created>
  <dcterms:modified xsi:type="dcterms:W3CDTF">2026-09-22T06:27:47Z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0a657a-da37-4a16-8212-03583872c43a_Enabled">
    <vt:lpwstr>true</vt:lpwstr>
  </property>
  <property fmtid="{D5CDD505-2E9C-101B-9397-08002B2CF9AE}" pid="3" name="MSIP_Label_750a657a-da37-4a16-8212-03583872c43a_SetDate">
    <vt:lpwstr>2026-09-22T06:23:12Z</vt:lpwstr>
  </property>
  <property fmtid="{D5CDD505-2E9C-101B-9397-08002B2CF9AE}" pid="4" name="MSIP_Label_750a657a-da37-4a16-8212-03583872c43a_Method">
    <vt:lpwstr>Standard</vt:lpwstr>
  </property>
  <property fmtid="{D5CDD505-2E9C-101B-9397-08002B2CF9AE}" pid="5" name="MSIP_Label_750a657a-da37-4a16-8212-03583872c43a_Name">
    <vt:lpwstr>Restricted</vt:lpwstr>
  </property>
  <property fmtid="{D5CDD505-2E9C-101B-9397-08002B2CF9AE}" pid="6" name="MSIP_Label_750a657a-da37-4a16-8212-03583872c43a_SiteId">
    <vt:lpwstr>5d0501ba-8bc1-464e-b3ad-9e2c8779c55c</vt:lpwstr>
  </property>
  <property fmtid="{D5CDD505-2E9C-101B-9397-08002B2CF9AE}" pid="7" name="MSIP_Label_750a657a-da37-4a16-8212-03583872c43a_ActionId">
    <vt:lpwstr>0ad026da-d4f9-4ef5-adb0-3f6a75cf9453</vt:lpwstr>
  </property>
  <property fmtid="{D5CDD505-2E9C-101B-9397-08002B2CF9AE}" pid="8" name="MSIP_Label_750a657a-da37-4a16-8212-03583872c43a_ContentBits">
    <vt:lpwstr>0</vt:lpwstr>
  </property>
  <property fmtid="{D5CDD505-2E9C-101B-9397-08002B2CF9AE}" pid="9" name="MSIP_Label_750a657a-da37-4a16-8212-03583872c43a_Tag">
    <vt:lpwstr>10, 3, 0, 1</vt:lpwstr>
  </property>
</Properties>
</file>